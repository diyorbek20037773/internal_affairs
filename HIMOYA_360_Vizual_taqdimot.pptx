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452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9DB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RESPUBLIKASI IIV • TOSHKENT SHAHAR IIB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SHAYXONTOHUR TUMANI IIB KASBIY RIVOJLANISH MARKAZI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HIMOYA–360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194560" y="4343400"/>
            <a:ext cx="7772400" cy="685800"/>
          </a:xfrm>
          <a:prstGeom prst="roundRect">
            <a:avLst>
              <a:gd name="adj" fmla="val 16000"/>
            </a:avLst>
          </a:prstGeom>
          <a:solidFill>
            <a:srgbClr val="1A4A3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5662" y="4360984"/>
            <a:ext cx="7751298" cy="66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milliy</a:t>
            </a:r>
            <a:r>
              <a:rPr lang="en-US" sz="2200" b="1" dirty="0">
                <a:solidFill>
                  <a:schemeClr val="bg1"/>
                </a:solidFill>
                <a:latin typeface="Arial Black" panose="020B0A04020102020204" pitchFamily="34" charset="0"/>
              </a:rPr>
              <a:t> smart-</a:t>
            </a:r>
            <a:r>
              <a:rPr lang="en-US" sz="2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ta’lim</a:t>
            </a:r>
            <a:r>
              <a:rPr lang="en-US" sz="22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modeli</a:t>
            </a:r>
            <a:endParaRPr lang="en-US" sz="2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5727032"/>
            <a:ext cx="11247120" cy="490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 smtClean="0">
                <a:solidFill>
                  <a:srgbClr val="9DB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- 2026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faoliyati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300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kirishdan</a:t>
            </a: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xizmatgacha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bosqich — markazdagi alohida xona. Har bir xona — alohida ko'nikma.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143000" cy="114300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67712"/>
            <a:ext cx="539496" cy="5394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26464" y="1801368"/>
            <a:ext cx="384048" cy="38404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264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Hududni</a:t>
            </a: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o‘rganadi</a:t>
            </a: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2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Muammoli</a:t>
            </a:r>
            <a:r>
              <a:rPr lang="en-US" sz="12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vaziyatlarni</a:t>
            </a:r>
            <a:r>
              <a:rPr lang="en-US" sz="12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</a:t>
            </a:r>
            <a:r>
              <a:rPr lang="en-US" sz="12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asosda</a:t>
            </a:r>
            <a:r>
              <a:rPr lang="en-US" sz="12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</a:t>
            </a:r>
            <a:r>
              <a:rPr lang="en-US" sz="12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qiladi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92808" y="2377440"/>
            <a:ext cx="621792" cy="310896"/>
          </a:xfrm>
          <a:prstGeom prst="rightArrow">
            <a:avLst/>
          </a:prstGeom>
          <a:solidFill>
            <a:srgbClr val="C9D6CF"/>
          </a:solidFill>
          <a:ln w="12700">
            <a:solidFill>
              <a:srgbClr val="C9D6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965960"/>
            <a:ext cx="1143000" cy="114300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2267712"/>
            <a:ext cx="539496" cy="5394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2424" y="1801368"/>
            <a:ext cx="384048" cy="38404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9242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304288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AI-MULOQOT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30428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</a:t>
            </a:r>
            <a:r>
              <a:rPr lang="en-US" sz="1400" b="1" dirty="0" err="1" smtClean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</a:t>
            </a:r>
            <a:r>
              <a:rPr lang="en-US" sz="1400" b="1" dirty="0" smtClean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simulyatori</a:t>
            </a:r>
            <a:r>
              <a:rPr lang="en-US" sz="1400" b="1" dirty="0" smtClean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4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gaplashadi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858768" y="2377440"/>
            <a:ext cx="621792" cy="310896"/>
          </a:xfrm>
          <a:prstGeom prst="rightArrow">
            <a:avLst/>
          </a:prstGeom>
          <a:solidFill>
            <a:srgbClr val="C9D6CF"/>
          </a:solidFill>
          <a:ln w="12700">
            <a:solidFill>
              <a:srgbClr val="C9D6C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0" y="1965960"/>
            <a:ext cx="1143000" cy="114300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267712"/>
            <a:ext cx="539496" cy="53949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58384" y="1801368"/>
            <a:ext cx="384048" cy="38404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5838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270248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SIMULYATORI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27024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O‘q</a:t>
            </a:r>
            <a:r>
              <a:rPr lang="en-US" sz="14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otish</a:t>
            </a:r>
            <a:r>
              <a:rPr lang="en-US" sz="14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emas —</a:t>
            </a:r>
            <a:endParaRPr lang="en-US" sz="14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</a:t>
            </a:r>
            <a:r>
              <a:rPr lang="en-US" sz="14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</a:t>
            </a:r>
            <a:r>
              <a:rPr lang="en-US" sz="14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qilish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824728" y="2377440"/>
            <a:ext cx="621792" cy="310896"/>
          </a:xfrm>
          <a:prstGeom prst="rightArrow">
            <a:avLst/>
          </a:prstGeom>
          <a:solidFill>
            <a:srgbClr val="C9D6CF"/>
          </a:solidFill>
          <a:ln w="12700">
            <a:solidFill>
              <a:srgbClr val="C9D6C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37960" y="1965960"/>
            <a:ext cx="1143000" cy="114300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2267712"/>
            <a:ext cx="539496" cy="53949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24344" y="1801368"/>
            <a:ext cx="384048" cy="38404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32434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236208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DEBRIFING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23620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</a:t>
            </a:r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qayerda</a:t>
            </a:r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</a:t>
            </a:r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qilganini</a:t>
            </a:r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ko'rsatadi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qiladi</a:t>
            </a:r>
            <a:endParaRPr lang="en-US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790688" y="2377440"/>
            <a:ext cx="621792" cy="310896"/>
          </a:xfrm>
          <a:prstGeom prst="rightArrow">
            <a:avLst/>
          </a:prstGeom>
          <a:solidFill>
            <a:srgbClr val="C9D6CF"/>
          </a:solidFill>
          <a:ln w="12700">
            <a:solidFill>
              <a:srgbClr val="C9D6C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503920" y="1965960"/>
            <a:ext cx="1143000" cy="11430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5672" y="2267712"/>
            <a:ext cx="539496" cy="53949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290304" y="1801368"/>
            <a:ext cx="384048" cy="38404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29030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8202168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AI-MENTOR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20216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mashg'ulotni</a:t>
            </a:r>
            <a:endParaRPr lang="en-US" sz="1400" b="1" dirty="0">
              <a:solidFill>
                <a:srgbClr val="FFC000"/>
              </a:solidFill>
            </a:endParaRPr>
          </a:p>
          <a:p>
            <a:pPr marL="0" indent="0" algn="ctr">
              <a:buNone/>
            </a:pPr>
            <a:r>
              <a:rPr lang="en-US" sz="1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Sun’iy</a:t>
            </a: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intellekt</a:t>
            </a: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belgilaydi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38" name="Shape 31"/>
          <p:cNvSpPr/>
          <p:nvPr/>
        </p:nvSpPr>
        <p:spPr>
          <a:xfrm>
            <a:off x="9756648" y="2377440"/>
            <a:ext cx="621792" cy="310896"/>
          </a:xfrm>
          <a:prstGeom prst="rightArrow">
            <a:avLst/>
          </a:prstGeom>
          <a:solidFill>
            <a:srgbClr val="C9D6CF"/>
          </a:solidFill>
          <a:ln w="12700">
            <a:solidFill>
              <a:srgbClr val="C9D6C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469880" y="1965960"/>
            <a:ext cx="1143000" cy="11430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1632" y="2267712"/>
            <a:ext cx="539496" cy="539496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1256264" y="1801368"/>
            <a:ext cx="384048" cy="38404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12562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10168128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</a:t>
            </a: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1016812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</a:t>
            </a: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</a:t>
            </a:r>
            <a:endParaRPr lang="en-US" sz="14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o'lchanadi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45" name="Shape 37"/>
          <p:cNvSpPr/>
          <p:nvPr/>
        </p:nvSpPr>
        <p:spPr>
          <a:xfrm>
            <a:off x="1737360" y="5623560"/>
            <a:ext cx="8686800" cy="731520"/>
          </a:xfrm>
          <a:prstGeom prst="roundRect">
            <a:avLst>
              <a:gd name="adj" fmla="val 12500"/>
            </a:avLst>
          </a:prstGeom>
          <a:solidFill>
            <a:srgbClr val="F4F7F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1737360" y="5623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MASHG'ULOT SIKLI:   </a:t>
            </a: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VAZIYAT → TAHLIL → MULOQOT → QAROR → HARAKAT → NATIJA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0350" y="207208"/>
            <a:ext cx="72125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3-qavat: 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</a:t>
            </a: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xona — 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30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</a:t>
            </a: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trenajyor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412480" y="141732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4F7F5"/>
          </a:solidFill>
          <a:ln w="15875">
            <a:solidFill>
              <a:srgbClr val="D9B9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1563624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77072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5256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MAHALLA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052560" y="18196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hududni qabul qiladi, muammolarni topadi, rejasini tuzadi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2660904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4F7F5"/>
          </a:solidFill>
          <a:ln w="15875">
            <a:solidFill>
              <a:srgbClr val="C96A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77072" y="2807208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52560" y="2752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AI-MULOQOT SIMULYATORI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52560" y="30632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platformada virtual fuqaro bilan muloqot va deeskalatsiya mashqi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12480" y="3904488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4F7F5"/>
          </a:solidFill>
          <a:ln w="15875">
            <a:solidFill>
              <a:srgbClr val="2E5E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77072" y="4050792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7707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52560" y="3995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QAROR SIMULYATORI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052560" y="43068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Ssenariyli ekran: </a:t>
            </a: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xavfni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baholash, mutanosib chorani tanlash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5148072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4F7F5"/>
          </a:solidFill>
          <a:ln w="15875">
            <a:solidFill>
              <a:srgbClr val="1F5C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7072" y="5294376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052560" y="5239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DEBRIFING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052560" y="55504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 bilan vaziyatni qayta ko'rish: 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tahlil → tajriba</a:t>
            </a:r>
            <a:endParaRPr lang="en-US" sz="1200" dirty="0"/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09" y="469774"/>
            <a:ext cx="3514650" cy="3018331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 rotWithShape="1">
          <a:blip r:embed="rId4"/>
          <a:srcRect l="8650" t="3964" r="7574" b="12966"/>
          <a:stretch/>
        </p:blipFill>
        <p:spPr>
          <a:xfrm>
            <a:off x="145107" y="3589226"/>
            <a:ext cx="4567232" cy="3221645"/>
          </a:xfrm>
          <a:prstGeom prst="rect">
            <a:avLst/>
          </a:prstGeom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687" y="1034716"/>
            <a:ext cx="3059889" cy="2453389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67" y="3589226"/>
            <a:ext cx="3067034" cy="30771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MAHALLA — hududni boshqarish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950273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JOY: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mashg'ulotlar zali (transformer modullar)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64240" y="365760"/>
            <a:ext cx="777240" cy="77724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53949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00" dirty="0">
                <a:solidFill>
                  <a:srgbClr val="1F5C45"/>
                </a:solidFill>
                <a:latin typeface="Arial" pitchFamily="34" charset="0"/>
                <a:cs typeface="Arial" pitchFamily="34" charset="-120"/>
              </a:rPr>
              <a:t>HARAKATLAR KETMA-KETLIGI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8408" y="1951892"/>
            <a:ext cx="5083712" cy="332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Ekranda virtual mahallani «qabul qilib oladi» — xuddi real uchastkadek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murojaatlar, muammoli nuqtalar, takroriy hodisalar va xavf indikatorlari tushadi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</a:t>
            </a:r>
            <a:r>
              <a:rPr lang="en-US" sz="20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muammolarni</a:t>
            </a:r>
            <a:r>
              <a:rPr lang="en-US" sz="2000" b="1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ajratadi va ustuvorlikni belgilaydi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muammo bo'yicha «men nima qilaman?» — harakat rejasini tuzadi</a:t>
            </a:r>
            <a:endParaRPr lang="en-US" sz="2000" b="1" dirty="0"/>
          </a:p>
        </p:txBody>
      </p:sp>
      <p:sp>
        <p:nvSpPr>
          <p:cNvPr id="10" name="Shape 7"/>
          <p:cNvSpPr/>
          <p:nvPr/>
        </p:nvSpPr>
        <p:spPr>
          <a:xfrm>
            <a:off x="457200" y="512064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E3F0E7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" y="5146314"/>
            <a:ext cx="4745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 hujjat bilan emas, HUDUD bilan ishlashni o'rganadi — rejalashtirish, ustuvorlik, profilaktika.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806440" y="1371600"/>
            <a:ext cx="5897880" cy="5166360"/>
          </a:xfrm>
          <a:prstGeom prst="roundRect">
            <a:avLst>
              <a:gd name="adj" fmla="val 212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15361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MAHALLA  •  Uchastka SH-12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80760" y="1965960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2103120"/>
            <a:ext cx="731520" cy="640080"/>
          </a:xfrm>
          <a:prstGeom prst="rect">
            <a:avLst/>
          </a:prstGeom>
          <a:solidFill>
            <a:srgbClr val="1F5C45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40880" y="2103120"/>
            <a:ext cx="822960" cy="640080"/>
          </a:xfrm>
          <a:prstGeom prst="rect">
            <a:avLst/>
          </a:prstGeom>
          <a:solidFill>
            <a:srgbClr val="1F5C45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2103120"/>
            <a:ext cx="640080" cy="640080"/>
          </a:xfrm>
          <a:prstGeom prst="rect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834640"/>
            <a:ext cx="731520" cy="640080"/>
          </a:xfrm>
          <a:prstGeom prst="rect">
            <a:avLst/>
          </a:prstGeom>
          <a:solidFill>
            <a:srgbClr val="1F5C45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40880" y="2834640"/>
            <a:ext cx="822960" cy="640080"/>
          </a:xfrm>
          <a:prstGeom prst="rect">
            <a:avLst/>
          </a:prstGeom>
          <a:solidFill>
            <a:srgbClr val="C96A57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55280" y="2834640"/>
            <a:ext cx="640080" cy="640080"/>
          </a:xfrm>
          <a:prstGeom prst="rect">
            <a:avLst/>
          </a:prstGeom>
          <a:solidFill>
            <a:srgbClr val="1F5C45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3566160"/>
            <a:ext cx="731520" cy="548640"/>
          </a:xfrm>
          <a:prstGeom prst="rect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40880" y="3566160"/>
            <a:ext cx="822960" cy="548640"/>
          </a:xfrm>
          <a:prstGeom prst="rect">
            <a:avLst/>
          </a:prstGeom>
          <a:solidFill>
            <a:srgbClr val="1F5C45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55280" y="3566160"/>
            <a:ext cx="640080" cy="548640"/>
          </a:xfrm>
          <a:prstGeom prst="rect">
            <a:avLst/>
          </a:prstGeom>
          <a:solidFill>
            <a:srgbClr val="1F5C45">
              <a:alpha val="7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xaritasi: yashil–sariq–qizil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915400" y="1965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BUGUNGI 3 MUAMMO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915400" y="233172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111827"/>
          </a:solidFill>
          <a:ln w="15875">
            <a:solidFill>
              <a:srgbClr val="C96A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0684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6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372600" y="2377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Takroriy oilaviy nizo — 7-uy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915400" y="3099816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11182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06840" y="314553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372600" y="314553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Kechki soatda yig'iladigan guruh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915400" y="3867912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11182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06840" y="39136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372600" y="391363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Hisobdagi shaxs nazoratdan chetda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80760" y="4892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0" y="4956048"/>
            <a:ext cx="5166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«Bugun mening hududimdagi eng muhim 3 muammo nima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men nima qilaman?»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AI-MULOQOT SIMULYATORI — muloqot mashqi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93268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JOY: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mashg'ulotlar zonasi (4 platforma)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64240" y="365760"/>
            <a:ext cx="777240" cy="77724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53949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 smtClean="0">
                <a:solidFill>
                  <a:srgbClr val="1F5C45"/>
                </a:solidFill>
                <a:latin typeface="Arial" pitchFamily="34" charset="0"/>
                <a:cs typeface="Arial" pitchFamily="34" charset="-120"/>
              </a:rPr>
              <a:t>HARAKATLAR KETMA-KETLIGI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0574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platformaga chiqadi — qarshisida sun'iy intellekt yaratgan «virtual fuqaro»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 jahldor, qo'rqqan, nizoli, jabrlanuvchi yoki norozi bo'lishi mumkin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Xodimning HAR BIR gapiga qarab AI vaziyatni keskinlashtiradi yoki yumshatadi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Tinglash, savol berish, profiling, deeskalatsiya, tushuntirish va kelishuvni mashq qiladi</a:t>
            </a:r>
            <a:endParaRPr lang="en-US" sz="2000" b="1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E3F0E7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5696712"/>
            <a:ext cx="4745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so'zning real oqibati bor — muloqot ko'nikmasi kitobdan emas, jonli tajribadan keladi.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06440" y="1371600"/>
            <a:ext cx="5897880" cy="5166360"/>
          </a:xfrm>
          <a:prstGeom prst="roundRect">
            <a:avLst>
              <a:gd name="adj" fmla="val 212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15361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JONLI SIMULYATSIYA  •  Case 04: agressiv fuqaro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80760" y="19659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C96A57"/>
          </a:solidFill>
          <a:ln w="12700">
            <a:solidFill>
              <a:srgbClr val="C96A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0025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FUQARO:  «Uch oydan beri hech kim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quloq solmaydi! Yetar endi!»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35240" y="292608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0688" y="29626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XODIM:  «Otaxon, avvalo sizni eshitay.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bo'lganini boshidan aytib bering...»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388620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913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FUQARO:  «...mayli, gapirsam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gapiray. Ish shundayki...»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80760" y="475488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47411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HOLATI: vaziyat yumshayapti ▼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281160" y="475488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81160" y="47411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OHANG: xotirjam 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534924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TINGLASH → SAVOL → PROFILING → DEESKALATSIYA → TUSHUNTIRISH → KELISHUV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QAROR SIMULYATORI — bu oddiy TIR emas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93268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JOY: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o'quv zonasi (interaktiv ssenariyli ekran)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64240" y="365760"/>
            <a:ext cx="777240" cy="77724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53949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00" dirty="0">
                <a:solidFill>
                  <a:srgbClr val="1F5C45"/>
                </a:solidFill>
                <a:latin typeface="Arial" pitchFamily="34" charset="0"/>
                <a:cs typeface="Arial" pitchFamily="34" charset="-120"/>
              </a:rPr>
              <a:t>HARAKATLAR KETMA-KETLIGI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122111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Ekranda real xizmat vaziyati «jonlanadi» — hodisa rivojlanib boradi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 bir necha soniya ichida vaziyatni baholaydi va chorani tanlaydi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Ssenariy avval muloqot bosqichidan boshlanadi — qurol eng oxirgi chora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Baholanadigan narsa tezlik emas — qarorning QONUNIYLIGI va MUTANOSIBLIGI</a:t>
            </a:r>
            <a:endParaRPr lang="en-US" sz="2000" b="1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E3F0E7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5696712"/>
            <a:ext cx="4745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mezon: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«to'g'ri otmaslik» ham a'lo baho. Maqsad — tez harakat qiluvchi emas, TO'G'RI QAROR qiluvchi xodim.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06440" y="1371600"/>
            <a:ext cx="5897880" cy="5166360"/>
          </a:xfrm>
          <a:prstGeom prst="roundRect">
            <a:avLst>
              <a:gd name="adj" fmla="val 212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15361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QAROR ZANJIRI  •  soniyalar ichida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0" y="196596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95681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 BORMI?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549640" y="2478024"/>
            <a:ext cx="365760" cy="201168"/>
          </a:xfrm>
          <a:prstGeom prst="downArrow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2679192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67004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MULOQOT KERAKMI?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49640" y="3191256"/>
            <a:ext cx="365760" cy="201168"/>
          </a:xfrm>
          <a:prstGeom prst="downArrow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3392424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38328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KUTISH KERAKMI?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49640" y="3904488"/>
            <a:ext cx="365760" cy="201168"/>
          </a:xfrm>
          <a:prstGeom prst="downArrow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4105656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09651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YORDAM CHAQIRISHMI?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549640" y="4617720"/>
            <a:ext cx="365760" cy="201168"/>
          </a:xfrm>
          <a:prstGeom prst="downArrow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4818888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48097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QANDAY CHORA MUTANOSIB?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0" y="557784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0" y="5577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BAHO: qaror qonuniy va mutanosib bo'ldimi?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DEBRIFING — xatodan mahoratga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93268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JOY: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yig'ilish zali (katta ekran, guruh tahlili)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64240" y="365760"/>
            <a:ext cx="777240" cy="777240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53949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00" dirty="0">
                <a:solidFill>
                  <a:srgbClr val="1F5C45"/>
                </a:solidFill>
                <a:latin typeface="Arial" pitchFamily="34" charset="0"/>
                <a:cs typeface="Arial" pitchFamily="34" charset="-120"/>
              </a:rPr>
              <a:t>HARAKATLAR KETMA-KETLIGI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984248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Mashg'ulot yakunida vaziyat ekranda qayta ko'riladi — xodim o'zini tomondan ko'radi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Instruktor va AI birgalikda tahlil qiladi: qaror, so'z, ohang, harakat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savolga guruh bilan javob topiladi (o'ngda)</a:t>
            </a:r>
            <a:endParaRPr lang="en-US" sz="2000" b="1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jazolanmaydi — u keyingi to'g'ri qaror uchun TAJRIBAGA aylantiriladi</a:t>
            </a:r>
            <a:endParaRPr lang="en-US" sz="2000" b="1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E3F0E7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5696712"/>
            <a:ext cx="4745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Mexanizm: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→ TAHLIL → TAJRIBA → MAHORAT. Har bir sikl xodimni bir pog'ona ko'taradi.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06440" y="1371600"/>
            <a:ext cx="5897880" cy="5166360"/>
          </a:xfrm>
          <a:prstGeom prst="roundRect">
            <a:avLst>
              <a:gd name="adj" fmla="val 212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15361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QAYTA KO'RISH  •  3 savol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26480" y="20116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9050">
            <a:solidFill>
              <a:srgbClr val="1F5C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249424"/>
            <a:ext cx="475488" cy="475488"/>
          </a:xfrm>
          <a:prstGeom prst="ellipse">
            <a:avLst/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49440" y="21214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TO'G'RI bo'ldi?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949440" y="25054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tomonlar mustahkamlanadi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3127248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9050">
            <a:solidFill>
              <a:srgbClr val="C96A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3364992"/>
            <a:ext cx="475488" cy="475488"/>
          </a:xfrm>
          <a:prstGeom prst="ellipse">
            <a:avLst/>
          </a:prstGeom>
          <a:solidFill>
            <a:srgbClr val="C96A57"/>
          </a:solidFill>
          <a:ln w="12700">
            <a:solidFill>
              <a:srgbClr val="C96A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49440" y="32369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Qayerda XATO qilindi?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949440" y="36210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daqiqa ekranda ko'rsatiladi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0" y="4242816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9360" y="4480560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4462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49440" y="43525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Keyingi safar nima BOSHQACHA qilinadi?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94944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harakat rejasi tuziladi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26480" y="544068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0" y="54406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XATO  →  TAHLIL  →  TAJRIBA  →  MAHORAT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AI-MENTOR — har bir xodimning raqamli treneri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960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zaif tomonni aniqlaydi  •  </a:t>
            </a: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DAVOMIDA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qarorlarni kuzatadi  •  </a:t>
            </a: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individual tavsiya beradi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3977640"/>
          </a:xfrm>
          <a:prstGeom prst="roundRect">
            <a:avLst>
              <a:gd name="adj" fmla="val 2759"/>
            </a:avLst>
          </a:prstGeom>
          <a:solidFill>
            <a:srgbClr val="F4F7F5"/>
          </a:solidFill>
          <a:ln w="12700">
            <a:solidFill>
              <a:srgbClr val="D3DD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XODIM PROFILI  •  ID: SH-0473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0" y="175564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17419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AI-MENTOR FAOL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KUCHLI TOMONLAR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 bilan kontakt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8986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3808476" cy="256032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2852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Vaziyatni tez baholash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5844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84448"/>
            <a:ext cx="3584448" cy="256032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tushuntirish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2702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70248"/>
            <a:ext cx="3494837" cy="256032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4224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6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RIVOJLANTIRISH KERAK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 tinglash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8986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898648"/>
            <a:ext cx="2016252" cy="256032"/>
          </a:xfrm>
          <a:prstGeom prst="roundRect">
            <a:avLst>
              <a:gd name="adj" fmla="val 50000"/>
            </a:avLst>
          </a:prstGeom>
          <a:solidFill>
            <a:srgbClr val="C96A57"/>
          </a:solidFill>
          <a:ln w="12700">
            <a:solidFill>
              <a:srgbClr val="C96A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08792" y="2852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holatida qaror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35844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584448"/>
            <a:ext cx="1792224" cy="256032"/>
          </a:xfrm>
          <a:prstGeom prst="roundRect">
            <a:avLst>
              <a:gd name="adj" fmla="val 50000"/>
            </a:avLst>
          </a:prstGeom>
          <a:solidFill>
            <a:srgbClr val="C96A57"/>
          </a:solidFill>
          <a:ln w="12700">
            <a:solidFill>
              <a:srgbClr val="C96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08792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Hujjatlashtirish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42702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270248"/>
            <a:ext cx="2329891" cy="2560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08792" y="4224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" y="4709160"/>
            <a:ext cx="10424160" cy="640080"/>
          </a:xfrm>
          <a:prstGeom prst="roundRect">
            <a:avLst>
              <a:gd name="adj" fmla="val 128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709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TAVSIYASI: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mashg'ulot — AI-muloqot simulyatori, Case 04 «Agressiv fuqaro» (faol tinglash bloki)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NATIJA:  100 XODIM — 100 XIL O'QUV TRAEKTORIYASI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qaror bermaydi — har bir xulosani instruktor tasdiqlaydi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Yakuniy imtihon: «BIR KUNLIK XIZMAT»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960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emas — xodim bitta mashg'ulotda to'liq ish kunini mustaqil boshqaradi. Barcha xonalar bitta ssenariyga ulanadi.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45720"/>
          </a:xfrm>
          <a:prstGeom prst="rect">
            <a:avLst/>
          </a:prstGeom>
          <a:solidFill>
            <a:srgbClr val="D3DDD7"/>
          </a:solidFill>
          <a:ln w="12700">
            <a:solidFill>
              <a:srgbClr val="D3DD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3604" y="2505456"/>
            <a:ext cx="256032" cy="256032"/>
          </a:xfrm>
          <a:prstGeom prst="ellipse">
            <a:avLst/>
          </a:prstGeom>
          <a:solidFill>
            <a:srgbClr val="1F5C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4F7F5"/>
          </a:solidFill>
          <a:ln w="19050">
            <a:solidFill>
              <a:srgbClr val="1F5C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Hududni qabul qilish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794760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mahalla: 3 muammo,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rejasi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17036" y="2505456"/>
            <a:ext cx="256032" cy="256032"/>
          </a:xfrm>
          <a:prstGeom prst="ellipse">
            <a:avLst/>
          </a:prstGeom>
          <a:solidFill>
            <a:srgbClr val="C96A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16352" y="301752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4F7F5"/>
          </a:solidFill>
          <a:ln w="19050">
            <a:solidFill>
              <a:srgbClr val="C9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Nizoli fuqaro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794760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AI-muloqot: tinglash va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deeskalatsiya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0468" y="2505456"/>
            <a:ext cx="256032" cy="256032"/>
          </a:xfrm>
          <a:prstGeom prst="ellipse">
            <a:avLst/>
          </a:prstGeom>
          <a:solidFill>
            <a:srgbClr val="2E5E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129784" y="301752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4F7F5"/>
          </a:solidFill>
          <a:ln w="19050">
            <a:solidFill>
              <a:srgbClr val="2E5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Xavfli vaziyat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9512" y="3794760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 simulyatori: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mutanosib chora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343900" y="2505456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43216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43216" y="301752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4F7F5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Hujjatlashtirish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52944" y="3794760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hujjat tekshiruvi: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 va fakt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657332" y="2505456"/>
            <a:ext cx="256032" cy="256032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6648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56648" y="301752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4F7F5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66376" y="315468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Debrifing va baho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66376" y="3794760"/>
            <a:ext cx="1837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savol tahlili,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HIMOYA-ID yangilanadi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737360" y="562356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56235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O'TDI degani — «kursni tugatdi» emas, «REAL KUNNI MUSTAQIL BOSHQARDI» degani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3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HIMOYA-ID — sertifikat emas, kompetensiya profili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858000" cy="4572000"/>
          </a:xfrm>
          <a:prstGeom prst="roundRect">
            <a:avLst>
              <a:gd name="adj" fmla="val 2400"/>
            </a:avLst>
          </a:prstGeom>
          <a:solidFill>
            <a:srgbClr val="F4F7F5"/>
          </a:solidFill>
          <a:ln w="12700">
            <a:solidFill>
              <a:srgbClr val="D3DD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YO'NALISHDA DOIMIY BAHOLASH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qaror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920240"/>
            <a:ext cx="2699309" cy="219456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 tahlili</a:t>
            </a:r>
            <a:endParaRPr lang="en-US" sz="2000" b="1" dirty="0"/>
          </a:p>
        </p:txBody>
      </p:sp>
      <p:sp>
        <p:nvSpPr>
          <p:cNvPr id="12" name="Shape 10"/>
          <p:cNvSpPr/>
          <p:nvPr/>
        </p:nvSpPr>
        <p:spPr>
          <a:xfrm>
            <a:off x="3246120" y="2395728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395728"/>
            <a:ext cx="2501798" cy="219456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350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825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Muloqot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3246120" y="2871216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2871216"/>
            <a:ext cx="2896819" cy="219456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8254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00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Deeskalatsiya</a:t>
            </a:r>
            <a:endParaRPr lang="en-US" sz="2000" b="1" dirty="0"/>
          </a:p>
        </p:txBody>
      </p:sp>
      <p:sp>
        <p:nvSpPr>
          <p:cNvPr id="20" name="Shape 18"/>
          <p:cNvSpPr/>
          <p:nvPr/>
        </p:nvSpPr>
        <p:spPr>
          <a:xfrm>
            <a:off x="3246120" y="3346704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346704"/>
            <a:ext cx="2337206" cy="21945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3009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776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2000" b="1" dirty="0"/>
          </a:p>
        </p:txBody>
      </p:sp>
      <p:sp>
        <p:nvSpPr>
          <p:cNvPr id="24" name="Shape 22"/>
          <p:cNvSpPr/>
          <p:nvPr/>
        </p:nvSpPr>
        <p:spPr>
          <a:xfrm>
            <a:off x="3246120" y="3822192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3822192"/>
            <a:ext cx="2106778" cy="21945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7764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251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ko'nikma</a:t>
            </a:r>
            <a:endParaRPr lang="en-US" sz="2000" b="1" dirty="0"/>
          </a:p>
        </p:txBody>
      </p:sp>
      <p:sp>
        <p:nvSpPr>
          <p:cNvPr id="28" name="Shape 26"/>
          <p:cNvSpPr/>
          <p:nvPr/>
        </p:nvSpPr>
        <p:spPr>
          <a:xfrm>
            <a:off x="3246120" y="4297680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4297680"/>
            <a:ext cx="2600554" cy="219456"/>
          </a:xfrm>
          <a:prstGeom prst="roundRect">
            <a:avLst>
              <a:gd name="adj" fmla="val 50000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2519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727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Hujjatlashtirish</a:t>
            </a:r>
            <a:endParaRPr lang="en-US" sz="2000" b="1" dirty="0"/>
          </a:p>
        </p:txBody>
      </p:sp>
      <p:sp>
        <p:nvSpPr>
          <p:cNvPr id="32" name="Shape 30"/>
          <p:cNvSpPr/>
          <p:nvPr/>
        </p:nvSpPr>
        <p:spPr>
          <a:xfrm>
            <a:off x="3246120" y="4773168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4773168"/>
            <a:ext cx="1909267" cy="219456"/>
          </a:xfrm>
          <a:prstGeom prst="roundRect">
            <a:avLst>
              <a:gd name="adj" fmla="val 50000"/>
            </a:avLst>
          </a:prstGeom>
          <a:solidFill>
            <a:srgbClr val="C96A57"/>
          </a:solidFill>
          <a:ln w="12700">
            <a:solidFill>
              <a:srgbClr val="C96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7274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6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5202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Natijadorlik (KPI)</a:t>
            </a:r>
            <a:endParaRPr lang="en-US" sz="2000" b="1" dirty="0"/>
          </a:p>
        </p:txBody>
      </p:sp>
      <p:sp>
        <p:nvSpPr>
          <p:cNvPr id="36" name="Shape 34"/>
          <p:cNvSpPr/>
          <p:nvPr/>
        </p:nvSpPr>
        <p:spPr>
          <a:xfrm>
            <a:off x="3246120" y="5248656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E2E8E5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5248656"/>
            <a:ext cx="2435962" cy="21945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52029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1234440"/>
            <a:ext cx="3886200" cy="3017520"/>
          </a:xfrm>
          <a:prstGeom prst="roundRect">
            <a:avLst>
              <a:gd name="adj" fmla="val 3636"/>
            </a:avLst>
          </a:prstGeom>
          <a:solidFill>
            <a:srgbClr val="12382B"/>
          </a:solidFill>
          <a:ln w="12700">
            <a:solidFill>
              <a:srgbClr val="12382B"/>
            </a:solidFill>
            <a:prstDash val="solid"/>
          </a:ln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554480"/>
            <a:ext cx="777240" cy="77724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955280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 SAVOL: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001000" y="28346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«Ushbu xodim qaysi vaziyatni MUSTAQIL boshqara oladi?»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7772400" y="4434840"/>
            <a:ext cx="3886200" cy="13716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36992" y="4526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bilan ulanadi: 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o'qitish natijasi xizmatda aks etadi, xizmat natijasi keyingi o'qitishni belgilaydi.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har bir mashg'ulot va har bir xizmat natijasidan keyin avtomatik yangilanadi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 nimaga aylanadi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A4A38"/>
          </a:solidFill>
          <a:ln w="12700">
            <a:solidFill>
              <a:srgbClr val="2E6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trike="sngStrike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971800" y="1719072"/>
            <a:ext cx="502920" cy="31089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417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Xizmat poligoni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A4A38"/>
          </a:solidFill>
          <a:ln w="12700">
            <a:solidFill>
              <a:srgbClr val="2E6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trike="sngStrike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95360" y="1719072"/>
            <a:ext cx="502920" cy="31089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1417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2514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A4A38"/>
          </a:solidFill>
          <a:ln w="12700">
            <a:solidFill>
              <a:srgbClr val="2E6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trike="sngStrike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Tinglovchi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971800" y="2816352"/>
            <a:ext cx="502920" cy="31089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Vaziyatni boshqaruvchi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2514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A4A38"/>
          </a:solidFill>
          <a:ln w="12700">
            <a:solidFill>
              <a:srgbClr val="2E6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trike="sngStrike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95360" y="2816352"/>
            <a:ext cx="502920" cy="31089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case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36118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A4A38"/>
          </a:solidFill>
          <a:ln w="12700">
            <a:solidFill>
              <a:srgbClr val="2E6B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trike="sngStrike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971800" y="3913632"/>
            <a:ext cx="502920" cy="31089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Kompetensiya (HIMOYA-ID)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09360" y="36118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A4A38"/>
          </a:solidFill>
          <a:ln w="12700">
            <a:solidFill>
              <a:srgbClr val="2E6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trike="sngStrike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595360" y="3913632"/>
            <a:ext cx="502920" cy="31089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280160" y="4846320"/>
            <a:ext cx="9601200" cy="777240"/>
          </a:xfrm>
          <a:prstGeom prst="roundRect">
            <a:avLst>
              <a:gd name="adj" fmla="val 11765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«XODIMNI O'QITMAYMIZ — UNI REAL XIZMATGA TAYYORLAYMIZ»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 smtClean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Kasbiy</a:t>
            </a:r>
            <a:r>
              <a:rPr lang="en-US" sz="1400" dirty="0" smtClean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rivojlanish</a:t>
            </a:r>
            <a:r>
              <a:rPr lang="en-US" sz="1400" dirty="0" smtClean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markazida</a:t>
            </a:r>
            <a:r>
              <a:rPr lang="en-US" sz="1400" dirty="0" smtClean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yaratiladi  •  Amaliyotda sinaladi  •  Natijasi o'lchanadi  •  Butun tizimga tatbiq etiladi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993</Words>
  <Application>Microsoft Office PowerPoint</Application>
  <PresentationFormat>Широкоэкранный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Murodova Marjona Shuxrat qizi</cp:lastModifiedBy>
  <cp:revision>6</cp:revision>
  <dcterms:created xsi:type="dcterms:W3CDTF">2026-08-24T06:37:55Z</dcterms:created>
  <dcterms:modified xsi:type="dcterms:W3CDTF">2026-08-24T07:18:12Z</dcterms:modified>
</cp:coreProperties>
</file>